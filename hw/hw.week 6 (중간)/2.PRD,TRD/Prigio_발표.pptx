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theme" Target="theme/theme1.xml"  /><Relationship Id="rId27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0"/>
            <a:ext cx="10972800" cy="882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5200" b="1">
                <a:solidFill>
                  <a:srgbClr val="1d9e75"/>
                </a:solidFill>
                <a:latin typeface="맑은 고딕"/>
              </a:rPr>
              <a:t>Prigio</a:t>
            </a:r>
            <a:endParaRPr sz="5200" b="1">
              <a:solidFill>
                <a:srgbClr val="1d9e75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2606040"/>
            <a:ext cx="10972800" cy="42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200" b="0">
                <a:solidFill>
                  <a:srgbClr val="444444"/>
                </a:solidFill>
                <a:latin typeface="맑은 고딕"/>
              </a:rPr>
              <a:t>AI 냉장고 식재료 관리 &amp; 레시피 추천 서비스</a:t>
            </a:r>
            <a:r>
              <a:rPr lang="ko-KR" altLang="en-US" sz="2200" b="0">
                <a:solidFill>
                  <a:srgbClr val="444444"/>
                </a:solidFill>
                <a:latin typeface="맑은 고딕"/>
              </a:rPr>
              <a:t>  </a:t>
            </a:r>
            <a:r>
              <a:rPr lang="en-US" altLang="ko-KR" sz="2200" b="0">
                <a:solidFill>
                  <a:srgbClr val="444444"/>
                </a:solidFill>
                <a:latin typeface="맑은 고딕"/>
              </a:rPr>
              <a:t>(202512131</a:t>
            </a:r>
            <a:r>
              <a:rPr lang="ko-KR" altLang="en-US" sz="2200" b="0">
                <a:solidFill>
                  <a:srgbClr val="444444"/>
                </a:solidFill>
                <a:latin typeface="맑은 고딕"/>
              </a:rPr>
              <a:t> 이건우</a:t>
            </a:r>
            <a:r>
              <a:rPr lang="en-US" altLang="ko-KR" sz="2200" b="0">
                <a:solidFill>
                  <a:srgbClr val="444444"/>
                </a:solidFill>
                <a:latin typeface="맑은 고딕"/>
              </a:rPr>
              <a:t>)</a:t>
            </a:r>
            <a:endParaRPr lang="en-US" altLang="ko-KR" sz="2200" b="0">
              <a:solidFill>
                <a:srgbClr val="444444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1274552" cy="228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109728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0">
                <a:solidFill>
                  <a:srgbClr val="888888"/>
                </a:solidFill>
                <a:latin typeface="맑은 고딕"/>
              </a:rPr>
              <a:t>AI와 머신러닝  |  중간고사 과제 발표</a:t>
            </a:r>
            <a:endParaRPr sz="1600" b="0">
              <a:solidFill>
                <a:srgbClr val="888888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2 /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맑은 고딕"/>
              </a:rPr>
              <a:t>[ Part 1 ]  서비스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01.  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02.  서비스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03.  시스템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735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04.  프론트엔드 구조 ①  — 페이지 &amp; 라우팅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78561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05.  프론트엔드 구조 ②  — 상태 관리 &amp; API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06.  백엔드 구조 ①  — API 라우터 구성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07.  백엔드 구조 ②  — 서비스 레이어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3218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08.  백엔드 구조 ③  — 데이터 모델 &amp; 인증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833872"/>
            <a:ext cx="5120640" cy="298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09.  사용자 흐름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3459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10.  디자인 시스템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35040" y="3154680"/>
            <a:ext cx="2926080" cy="5029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18211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🖥️  라이브 데모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188720"/>
            <a:ext cx="5943600" cy="530352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맑은 고딕"/>
              </a:rPr>
              <a:t>[ Part 2 ]  AI 기술 심화 &amp; 개발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73736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11.  GPT-4o Vision 멀티모달 이미지 인식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0" y="230428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12.  LLM 기반 레시피 생성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35040" y="2871215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13.  Prompt Engineering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35040" y="343814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14.  문제 발견: 영양 정보 부정확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40050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15.  해결: 2-Layer 정확도 설계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35040" y="4572000"/>
            <a:ext cx="5577840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16.  기타 기술적 도전 &amp; 해결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5138927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17.  한계점 &amp; 논의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570585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18.  향후 ML/DL 고도화 방향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0" y="6272783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19.  결론</a:t>
            </a:r>
            <a:endParaRPr sz="1400" b="0">
              <a:solidFill>
                <a:srgbClr val="1a1a1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왜 만들었는가?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3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" cy="914400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6E00"/>
                </a:solidFill>
                <a:latin typeface="맑은 고딕"/>
              </a:rPr>
              <a:t>냉장고 재료 파악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맑은 고딕"/>
              </a:rPr>
              <a:t>냉장고 속 재료를 일일이 기억하지 못해 음식이 낭비됨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428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73152" cy="914400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6E00"/>
                </a:solidFill>
                <a:latin typeface="맑은 고딕"/>
              </a:rPr>
              <a:t>유통기한 방치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895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맑은 고딕"/>
              </a:rPr>
              <a:t>기한이 지난 재료를 모르고 방치하는 경우가 빈번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9300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73152" cy="914400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6E00"/>
                </a:solidFill>
                <a:latin typeface="맑은 고딕"/>
              </a:rPr>
              <a:t>결정 피로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7822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맑은 고딕"/>
              </a:rPr>
              <a:t>"오늘 뭐 먹지?" 고민이 매일 반복됨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8172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73152" cy="914400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6E00"/>
                </a:solidFill>
                <a:latin typeface="맑은 고딕"/>
              </a:rPr>
              <a:t>기존 앱의 번거로움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맑은 고딕"/>
              </a:rPr>
              <a:t>레시피 앱의 재료 수동 입력이 귀찮아 지속 사용이 어려움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274552" cy="228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9E75"/>
                </a:solidFill>
                <a:latin typeface="맑은 고딕"/>
              </a:rPr>
              <a:t>→  사진 한 장으로 이 모든 문제를 해결한다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Prigio  서비스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D9E75"/>
                </a:solidFill>
                <a:latin typeface="맑은 고딕"/>
              </a:rPr>
              <a:t>"냉장고 사진 한 장으로 오늘 저녁 완성"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749039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① 식재료 자동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05740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냉장고 사진 최대 2장 → AI가 재료·수량·유통기한 자동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88336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3749039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535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② 식재료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95351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추가 / 삭제 / 유통기한 설정, 임박 재료 우선 경고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8444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12464"/>
            <a:ext cx="3749039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96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③ AI 레시피 추천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84962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보유 재료 기반 후보 5개 제안 → 선택 → 상세 레시피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608576"/>
            <a:ext cx="3749039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457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④ 영양 정보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74573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레시피별 칼로리 · 단백질 · 탄수화물 · 지방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76672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504688"/>
            <a:ext cx="3749039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41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⑤ 구독 플랜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64184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Free(월 5회 분석 / 10회 레시피)  vs  Premium(30회 / 30회)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전체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5 /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43000"/>
            <a:ext cx="3931920" cy="6858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1216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브라우저  (React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5270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Vercel CDN 배포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468880"/>
            <a:ext cx="3931920" cy="6858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5420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백엔드 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8529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Railway /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794760"/>
            <a:ext cx="3931920" cy="6858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3867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PostgreSQL  (Supabase)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178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영구 데이터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맑은 고딕"/>
              </a:rPr>
              <a:t>↕  HTTPS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맑은 고딕"/>
              </a:rPr>
              <a:t>↕  HTTPS 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3108960" cy="594360"/>
          </a:xfrm>
          <a:prstGeom prst="rect">
            <a:avLst/>
          </a:prstGeom>
          <a:solidFill>
            <a:srgbClr val="F9FDFB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081527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Google OAuth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364991"/>
            <a:ext cx="2889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소셜 로그인 인증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017520"/>
            <a:ext cx="2926080" cy="594360"/>
          </a:xfrm>
          <a:prstGeom prst="rect">
            <a:avLst/>
          </a:prstGeom>
          <a:solidFill>
            <a:srgbClr val="F9FDFB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7" y="3081527"/>
            <a:ext cx="2706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OpenAI GPT-4o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3364991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이미지 분석 + 레시피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3108960" cy="594360"/>
          </a:xfrm>
          <a:prstGeom prst="rect">
            <a:avLst/>
          </a:prstGeom>
          <a:solidFill>
            <a:srgbClr val="F9FDFB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178808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Polar.sh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62272"/>
            <a:ext cx="2889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구독 결제 웹훅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4114800"/>
            <a:ext cx="2926080" cy="594360"/>
          </a:xfrm>
          <a:prstGeom prst="rect">
            <a:avLst/>
          </a:prstGeom>
          <a:solidFill>
            <a:srgbClr val="F9FDFB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7" y="4178808"/>
            <a:ext cx="2706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Vercel / Railway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462272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CI/CD 자동 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2186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9E75"/>
                </a:solidFill>
                <a:latin typeface="맑은 고딕"/>
              </a:rPr>
              <a:t>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186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9E75"/>
                </a:solidFill>
                <a:latin typeface="맑은 고딕"/>
              </a:rPr>
              <a:t>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2793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9E75"/>
                </a:solidFill>
                <a:latin typeface="맑은 고딕"/>
              </a:rPr>
              <a:t>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2793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9E75"/>
                </a:solidFill>
                <a:latin typeface="맑은 고딕"/>
              </a:rPr>
              <a:t>↔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프론트엔드 구조 ①  —  페이지 구성 &amp;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React Router v7  |  Code Splitting (lazy + Suspense)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6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362456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서비스 소개, Google OAuth 로그인 CTA, 요금제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408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67128"/>
            <a:ext cx="9235440" cy="297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>
                <a:solidFill>
                  <a:srgbClr val="1a1a1a"/>
                </a:solidFill>
                <a:latin typeface="맑은 고딕"/>
              </a:rPr>
              <a:t>AI 잔여 </a:t>
            </a:r>
            <a:r>
              <a:rPr lang="ko-KR" altLang="en-US" sz="1400" b="0">
                <a:solidFill>
                  <a:srgbClr val="1a1a1a"/>
                </a:solidFill>
                <a:latin typeface="맑은 고딕"/>
              </a:rPr>
              <a:t>사용 </a:t>
            </a:r>
            <a:r>
              <a:rPr sz="1400" b="0">
                <a:solidFill>
                  <a:srgbClr val="1a1a1a"/>
                </a:solidFill>
                <a:latin typeface="맑은 고딕"/>
              </a:rPr>
              <a:t>횟수</a:t>
            </a:r>
            <a:r>
              <a:rPr lang="en-US" altLang="ko-KR" sz="1400" b="0">
                <a:solidFill>
                  <a:srgbClr val="1a1a1a"/>
                </a:solidFill>
                <a:latin typeface="맑은 고딕"/>
              </a:rPr>
              <a:t>,</a:t>
            </a:r>
            <a:r>
              <a:rPr lang="ko-KR" altLang="en-US" sz="1400" b="0">
                <a:solidFill>
                  <a:srgbClr val="1a1a1a"/>
                </a:solidFill>
                <a:latin typeface="맑은 고딕"/>
              </a:rPr>
              <a:t> 원하는 기능 연결 페이지</a:t>
            </a:r>
            <a:endParaRPr lang="ko-KR" altLang="en-US"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16352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529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7180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사진 업로드(최대 2장), AI 분석 요청, 결과 확인·수정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9584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21024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/fridge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502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Fridge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7764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전체 재료 목록, 추가·삭제·유통기한 편집, 일괄 선택 삭제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34256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25696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/recipes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Recipes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581144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맛 필터 선택, 레시피 후보 카드(매칭률·부족재료), 북마크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3892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230368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669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/recipes/:id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595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RecipeDetail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385816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상세 레시피(재료·조리법), 영양 정보 2×2 그리드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6035040"/>
            <a:ext cx="210312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0716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ourier New"/>
              </a:rPr>
              <a:t>/subscription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3642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Subscription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6190488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플랜 비교, 결제 페이지 연동 (Polar.sh), 구독 현황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프론트엔드 구조 ②  —  상태 관리 &amp; API 통신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상태 관리  —  Zustand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94960" cy="118872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Courier New"/>
              </a:rPr>
              <a:t>authStore.ts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로그인 사용자 정보, 초기화 여부 (initialized),
ProtectedRoute 인증 게이트 제어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64208"/>
            <a:ext cx="5394960" cy="118872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55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Courier New"/>
              </a:rPr>
              <a:t>quotaStore.ts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2140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AI 사용 잔여 횟수 캐싱,
쿼터 초과 시 업그레이드 유도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82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서버 상태  —  React Query  (TanStack 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staleTime: 30s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5760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30초간 캐시 유지 → 불필요한 재요청 방지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retry: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6052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실패 시 1회 재시도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refetchOnWindowFocus: 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66344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탭 전환 시 자동 재요청 비활성화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3036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49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API 모듈  (src/api/)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60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▪  auth.ts  — 로그인·로그아웃·세션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760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▪  analysis.ts  — 이미지 업로드·분석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60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▪  fridge.ts  — 재료 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760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▪  recipes.ts  — 레시피 생성·상세</a:t>
            </a: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백엔드 구조 ①  —  API 라우터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FastAPI  |  Python 3.11  |  Railway Docker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엔드포인트 구성  (main.py에서 라우터 등록)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auth.py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6642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Google OAuth 콜백, JWT 발급, 토큰 갱신, 로그아웃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12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/api/v1/fridge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fridge.py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2128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재료 목록 조회, 추가, 수정, 삭제 (CRUD)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004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61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614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analysis.py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76148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이미지 업로드·검증, GPT-4o Vision 호출, 쿼터 차감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1868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10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/api/v1/recipes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310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recipes.py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101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레시피 후보 생성, 상세 레시피 생성, 영양 재계산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6732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587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/api/v1/quota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quota.py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8587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현재 사용량 조회, Free/Premium 잔여 횟수 반환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1596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407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407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billing.py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4074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Polar.sh 결제 페이지 URL 생성, 구독 상태 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6460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956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admin.py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956048"/>
            <a:ext cx="6858000" cy="290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300" b="0">
                <a:solidFill>
                  <a:srgbClr val="1a1a1a"/>
                </a:solidFill>
                <a:latin typeface="맑은 고딕"/>
              </a:rPr>
              <a:t>플랜 수동 변경, 사용자 </a:t>
            </a:r>
            <a:r>
              <a:rPr lang="ko-KR" altLang="en-US" sz="1300" b="0">
                <a:solidFill>
                  <a:srgbClr val="1a1a1a"/>
                </a:solidFill>
                <a:latin typeface="맑은 고딕"/>
              </a:rPr>
              <a:t>데이터 삭제</a:t>
            </a:r>
            <a:r>
              <a:rPr sz="1300" b="0">
                <a:solidFill>
                  <a:srgbClr val="1a1a1a"/>
                </a:solidFill>
                <a:latin typeface="맑은 고딕"/>
              </a:rPr>
              <a:t> (관리자 전용)</a:t>
            </a:r>
            <a:endParaRPr sz="13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541324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504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/webhooks/polar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5504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polar.py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550468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Polar.sh 결제 완료 웹훅 수신, HMAC 서명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6188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0533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/api/v1/image-proxy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6053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E00"/>
                </a:solidFill>
                <a:latin typeface="Courier New"/>
              </a:rPr>
              <a:t>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60533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외부 이미지 프록시 + LRU 캐시 (CORB 방지)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백엔드 구조 ②  —  서비스 레이어  (app/services/)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API 라우터는 요청 수신만 — 비즈니스 로직은 서비스 레이어에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9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12344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ai_service.py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435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AI 오케스트레이션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analyze_image()  — 이미지 bytes → GPT-4o Vision 호출 → 재료 JSON 반환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155680" cy="27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444444"/>
                </a:solidFill>
                <a:latin typeface="맑은 고딕"/>
              </a:rPr>
              <a:t>▪  generate_recipe_candidates()  — 재료 목록 + 맛 필터 → 후보 </a:t>
            </a:r>
            <a:r>
              <a:rPr lang="en-US" altLang="ko-KR" sz="1200" b="0">
                <a:solidFill>
                  <a:srgbClr val="444444"/>
                </a:solidFill>
                <a:latin typeface="맑은 고딕"/>
              </a:rPr>
              <a:t>3</a:t>
            </a:r>
            <a:r>
              <a:rPr sz="1200" b="0">
                <a:solidFill>
                  <a:srgbClr val="444444"/>
                </a:solidFill>
                <a:latin typeface="맑은 고딕"/>
              </a:rPr>
              <a:t>개</a:t>
            </a:r>
            <a:endParaRPr sz="1200" b="0">
              <a:solidFill>
                <a:srgbClr val="444444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generate_recipe_detail()  — 선택된 레시피명 → 상세 레시피 + 영양 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11430000" cy="12344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quota_service.py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151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사용 쿼터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check_and_increment_quota()  — 호출 전 잔여 횟수 확인 + 초과 시 예외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get_quota_status()  — 현재 사용량/한도 반환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Free: 분석 5회·레시피 10회  /  Premium: 분석 30회·레시피 30회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430000" cy="12344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recipe_service.py  +  ingredient_normalizer.py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986783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레시피 &amp; 재료 정규화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GPT 응답 파싱, 영양 정보 수식 재계산 (protein×4 + carbs×4 + fat×9)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5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ingredient_normalizer: 재료명 정규화 ("닭 가슴살" → "닭가슴살")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11430000" cy="12344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583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ourier New"/>
              </a:rPr>
              <a:t>billing_service.py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358383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결제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Polar.sh 체크아웃 URL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075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▪  웹훅 수신 시 플랜 업그레이드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백엔드 구조 ③  —  데이터 모델 &amp; 인증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SQLAlchemy 2.0 ORM  |  PostgreSQL (Supabase)  |  JWT RS256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데이터 모델  (app/models/)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ourier New"/>
              </a:rPr>
              <a:t>id(UUID), email, google_id, display_name, avatar_url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RefreshToken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8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ourier New"/>
              </a:rPr>
              <a:t>id, user_id(FK), token_hash, expires_at, revoked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FridgeItem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ourier New"/>
              </a:rPr>
              <a:t>id, user_id(FK), name, quantity, unit, expiry_date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29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ourier New"/>
              </a:rPr>
              <a:t>id, user_id(FK), plan(free/premium), expires_at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23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UsageRecord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2336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ourier New"/>
              </a:rPr>
              <a:t>id, user_id(FK), action_type, used_at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274552" cy="228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인증 흐름  —  Google OAuth + JWT (RS256)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① 프론트 → Google OAuth 로그인 버튼 클릭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150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② Google → 백엔드 /auth/callback 리다이렉트 (code 포함)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893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③ 백엔드 → Google API로 사용자 정보 검증 → DB 저장/조회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63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④ Access Token(JWT RS256, 15분) + Refresh Token → HttpOnly Cookie에 저장  (XSS 방어)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⑤ 이후 요청마다 Cookie 자동 첨부 → get_current_user() 의존성으로 검증</a:t>
            </a: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사용자 흐름  —  핵심 사용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11 /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Google
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1095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사진 업로드
(최대 2장)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59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AI 식재료
자동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3207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냉장고 재료
관리·편집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1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84264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맛 필터
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1783080"/>
            <a:ext cx="1271016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300" b="0">
                <a:solidFill>
                  <a:srgbClr val="1a1a1a"/>
                </a:solidFill>
                <a:latin typeface="맑은 고딕"/>
              </a:rPr>
              <a:t>레시피</a:t>
            </a:r>
            <a:endParaRPr sz="1300" b="0">
              <a:solidFill>
                <a:srgbClr val="1a1a1a"/>
              </a:solidFill>
              <a:latin typeface="맑은 고딕"/>
            </a:endParaRPr>
          </a:p>
          <a:p>
            <a:pPr lvl="0" algn="ctr">
              <a:defRPr/>
            </a:pPr>
            <a:r>
              <a:rPr sz="1300" b="0">
                <a:solidFill>
                  <a:srgbClr val="1a1a1a"/>
                </a:solidFill>
                <a:latin typeface="맑은 고딕"/>
              </a:rPr>
              <a:t>후보 </a:t>
            </a:r>
            <a:r>
              <a:rPr lang="en-US" altLang="ko-KR" sz="1300" b="0">
                <a:solidFill>
                  <a:srgbClr val="1a1a1a"/>
                </a:solidFill>
                <a:latin typeface="맑은 고딕"/>
              </a:rPr>
              <a:t>3</a:t>
            </a:r>
            <a:r>
              <a:rPr sz="1300" b="0">
                <a:solidFill>
                  <a:srgbClr val="1a1a1a"/>
                </a:solidFill>
                <a:latin typeface="맑은 고딕"/>
              </a:rPr>
              <a:t>개</a:t>
            </a:r>
            <a:endParaRPr sz="13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01784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66376" y="1371600"/>
            <a:ext cx="141732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144475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783080"/>
            <a:ext cx="12710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레시피 상세
+ 영양 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429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맑은 고딕"/>
              </a:rPr>
              <a:t>페이지 구성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Landing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9112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12264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2464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85616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Analyze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5616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/analyze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85816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Fridge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/fridge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9168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Recipes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/recipes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RecipeDetail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/recipes/:id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05872" y="3858768"/>
            <a:ext cx="1572768" cy="658368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79024" y="393192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맑은 고딕"/>
              </a:rPr>
              <a:t>Subscription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9024" y="418795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ourier New"/>
              </a:rPr>
              <a:t>/subscription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36592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맑은 고딕"/>
              </a:rPr>
              <a:t>▪  Protected Route: 미로그인 시 / 로 리다이렉트  (useAuthStore initialized 체크)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193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맑은 고딕"/>
              </a:rPr>
              <a:t>▪  Code Splitting: Dashboard·Fridge·Recipes 등 lazy() 적용  →  초기 번들 크기 감소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5412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맑은 고딕"/>
              </a:rPr>
              <a:t>▪  BackgroundSlideshow: 배경 이미지 6초마다 교체 (Fade 3.75s), 최상위 z-index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디자인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컬러 팔레트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2148840" cy="658368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82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Deep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/>
              </a:rPr>
              <a:t>#0D1F1A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히어로·다크 배경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27632"/>
            <a:ext cx="2148840" cy="6583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82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38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/>
              </a:rPr>
              <a:t>#1D9E75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CTA·강조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627632"/>
            <a:ext cx="2148840" cy="658368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682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38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urier New"/>
              </a:rPr>
              <a:t>#E1F5EE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카드배경·배지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627632"/>
            <a:ext cx="2148840" cy="65836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682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Mint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938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/>
              </a:rPr>
              <a:t>#5DCAA5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보조 강조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627632"/>
            <a:ext cx="2148840" cy="658368"/>
          </a:xfrm>
          <a:prstGeom prst="rect">
            <a:avLst/>
          </a:prstGeom>
          <a:solidFill>
            <a:srgbClr val="FAC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82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Amber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938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urier New"/>
              </a:rPr>
              <a:t>#FAC775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경고·유통기한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52928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71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핵심 디자인 원칙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▪  그라디언트 금지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429000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단색 배경 + 테두리 카드만 허용  —  그라디언트 절대 사용 금지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178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▪  카드 기반 레이아웃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17880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모든 콘텐츠는 radius 16px 카드로 구분, shadow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928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▪  모바일 퍼스트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92861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반응형 레이아웃, 터치 타깃 최소 44×44px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6784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▪  일관된 타이포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67842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한글 Pretendard, 영문 Inter  /  최소 폰트 12px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88952" cy="19202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🖥️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44444"/>
                </a:solidFill>
                <a:latin typeface="맑은 고딕"/>
              </a:rPr>
              <a:t>직접 프로그램을 실행합니다</a:t>
            </a: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AI 기술 ①  —  GPT-4o Vision  멀티모달 이미지 인식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AI 기술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13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468880" cy="13716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냉장고 사진
(최대 2장)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468880" cy="13716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bytes →
base64 인코딩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2468880" cy="13716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GPT-4o
Vision API
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3736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80160"/>
            <a:ext cx="2468880" cy="137160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630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JSON
식재료 목록
반환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인식 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재료명 (한국어)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58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수량 및 단위 (g / 개 / ml 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34256"/>
            <a:ext cx="5029200" cy="29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endParaRPr sz="1400" b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260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Foundation Model 활용 전략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E00"/>
                </a:solidFill>
                <a:latin typeface="맑은 고딕"/>
              </a:rPr>
              <a:t>✅  장점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0156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다양한 식재료 사전 지식 보유, 조명·각도에 강인, 별도 학습 데이터 불필요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2245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E00"/>
                </a:solidFill>
                <a:latin typeface="맑은 고딕"/>
              </a:rPr>
              <a:t>⚠️  단점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2452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API 비용 발생, OpenAI 외부 서비스 의존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47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E00"/>
                </a:solidFill>
                <a:latin typeface="맑은 고딕"/>
              </a:rPr>
              <a:t>기술 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4748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이미지 패치 → 토큰화 → 언어 토큰과 통합 입력  (ViT 계열 멀티모달 LLM)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AI 기술 ②  —  LLM 기반 레시피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AI 기술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2단계 생성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212080" cy="27432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1단계  —  후보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냉장고 재료 목록 + 맛 필터
          ↓  GPT-4o
레시피 후보 5개
(이름 + 한 줄 설명)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91640"/>
            <a:ext cx="5212080" cy="27432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2단계  —  상세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402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사용자가 선택한 레시피명
          ↓  GPT-4o
재료 목록 (중량 포함) +
조리 순서 + 영양 정보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5176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7914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맛 필터  (사용자 취향 선택)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30368"/>
            <a:ext cx="2560320" cy="475488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맑은 고딕"/>
              </a:rPr>
              <a:t>매운음식 🌶️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230368"/>
            <a:ext cx="2560320" cy="475488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5303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맑은 고딕"/>
              </a:rPr>
              <a:t>단음식 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5230368"/>
            <a:ext cx="2560320" cy="475488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5303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맑은 고딕"/>
              </a:rPr>
              <a:t>짠음식 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5230368"/>
            <a:ext cx="2560320" cy="475488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5303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맑은 고딕"/>
              </a:rPr>
              <a:t>다이어트 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Prompt Engineering 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AI 기술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15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98755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Role 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07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역할 부여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"당신은 한국 가정식 전문 셰프입니다"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04872"/>
            <a:ext cx="11430000" cy="98755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780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780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출력 포맷 강제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35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JSON 스키마를 프롬프트에 직접 명시  →  Zero-shot 구조화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75304"/>
            <a:ext cx="11430000" cy="98755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48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Constraint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484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제약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보유 재료만 사용  ·  1인분 기준  ·  한국 요리 특화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45736"/>
            <a:ext cx="11430000" cy="987552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188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Formula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18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계산 강제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76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"calories = protein×4 + carbs×4 + fat×9 공식으로만 산출"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11274552" cy="228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080760"/>
            <a:ext cx="11430000" cy="566928"/>
          </a:xfrm>
          <a:prstGeom prst="rect">
            <a:avLst/>
          </a:prstGeom>
          <a:solidFill>
            <a:srgbClr val="F4F8F6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90488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urier New"/>
              </a:rPr>
              <a:t>"nutrition 계산: 재료 100g당 표준값 × 중량(g) 합산 — 감각 추정 절대 금지"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개발 중 발견한 문제  —  영양 정보 부정확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개발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문제 증상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11430000" cy="530352"/>
          </a:xfrm>
          <a:prstGeom prst="rect">
            <a:avLst/>
          </a:prstGeom>
          <a:solidFill>
            <a:srgbClr val="FFF8F0"/>
          </a:solidFill>
          <a:ln w="10160">
            <a:solidFill>
              <a:srgbClr val="F0D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GPT 반환 칼로리:    850 kcal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11430000" cy="530352"/>
          </a:xfrm>
          <a:prstGeom prst="rect">
            <a:avLst/>
          </a:prstGeom>
          <a:solidFill>
            <a:srgbClr val="FFF8F0"/>
          </a:solidFill>
          <a:ln w="10160">
            <a:solidFill>
              <a:srgbClr val="F0D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실제 매크로 기준:   단백질 45g × 4  +  탄수화물 90g × 4  +  지방 30g × 9  =  870 kcal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80944"/>
            <a:ext cx="11430000" cy="530352"/>
          </a:xfrm>
          <a:prstGeom prst="rect">
            <a:avLst/>
          </a:prstGeom>
          <a:solidFill>
            <a:srgbClr val="FFF8F0"/>
          </a:solidFill>
          <a:ln w="10160">
            <a:solidFill>
              <a:srgbClr val="F0D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극단 사례:  피자 레시피에서 모차렐라 200g 만으로도 이론상 600 kcal  →  GPT는 498 kcal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원인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159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→  LLM은 수식으로 계산하지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00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학습 데이터의 패턴 기억  →  "이런 음식은 보통 이 정도"  방식으로 감각 추정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21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맑은 고딕"/>
              </a:rPr>
              <a:t>→  매크로와 칼로리를 독립적으로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058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단백질·탄수화물·지방과 칼로리를 별개로 출력  →  protein×4 + carbs×4 + fat×9 수식과 불일치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해결  —  영양 정보 2-Layer 정확도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개발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17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283464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Layer 1  —  프롬프트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재료 100g당 표준 영양 참조표를 System Prompt에 삽입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  예)  모차렐라   300 kcal  단 22 / 탄 2 / 지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       페퍼로니   494 kcal  단 21 / 탄 3 / 지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       올리브오일 884 kcal  단  0 / 탄 0 / 지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재료별 계산 후 합산 강제  ·  감각 추정 절대 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331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D9E75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188720"/>
            <a:ext cx="5212080" cy="283464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Layer 2  —  서버 재계산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709928"/>
            <a:ext cx="5212080" cy="2267712"/>
          </a:xfrm>
          <a:prstGeom prst="rect">
            <a:avLst/>
          </a:prstGeom>
          <a:solidFill>
            <a:srgbClr val="F4F8F6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819656"/>
            <a:ext cx="49377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urier New"/>
              </a:rPr>
              <a:t>protein = int(round(float(
  nutrition.get('protein') or 0)))
carbs = int(round(float(
  nutrition.get('carbs') or 0)))
fat = int(round(float(
  nutrition.get('fat') or 0)))
calories = protein*4 + carbs*4 + fat*9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11274552" cy="22860"/>
          </a:xfrm>
          <a:prstGeom prst="rect">
            <a:avLst/>
          </a:prstGeom>
          <a:solidFill>
            <a:srgbClr val="CC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7083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GPT가 어떤 값을 반환해도  칼로리는 항상 수식과 일치하는 값으로 서버에서 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280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의의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2803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LLM의 패턴 매칭 한계를  규칙 기반 수식으로 보정하는  하이브리드 설계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기타 기술적 도전  &amp; 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개발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18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AI 응답 지연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GPT-4o API 처리 시간 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 타임아웃 10s → 90s로 확장  +  로딩 스피너 UX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1143000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이미지 인식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96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조명·각도·포장 형태의 다양성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9008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 사용자 수동 수정 UI 병행 설계  →  AI 오인식 보완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1143000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85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XSS 인증 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85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JavaScript로 토큰 탈취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78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 JWT를 HttpOnly Cookie에 저장  →  JS 접근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1143000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73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E00"/>
                </a:solidFill>
                <a:latin typeface="맑은 고딕"/>
              </a:rPr>
              <a:t>외부 이미지 CORB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73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브라우저 CORB 정책으로 이미지 차단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675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 백엔드 image-proxy 엔드포인트 + LRU 메모리 캐시 200개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한계점  &amp;  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개발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19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91440" cy="1517904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6E00"/>
                </a:solidFill>
                <a:latin typeface="맑은 고딕"/>
              </a:rPr>
              <a:t>영양 정보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참조표에 없는 재료 (희귀 식재료, 가공식품)는 여전히 LLM 추정에 의존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개선 방향: 식품안전처 공공 DB API 연동  →  정확한 영양 DB 구축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91440" cy="2048255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6E00"/>
                </a:solidFill>
                <a:latin typeface="맑은 고딕"/>
              </a:rPr>
              <a:t>결제 검증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해외 계좌 부재로 실제 결제 완료까지는 확인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결제 페이지 진입 및 Polar.sh 연동 흐름 정상 동작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서버 로그 · 웹훅 응답 분석 결과  결제 처리 로직 자체는 정상 작동으로 판단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91440" cy="1517904"/>
          </a:xfrm>
          <a:prstGeom prst="rect">
            <a:avLst/>
          </a:prstGeom>
          <a:solidFill>
            <a:srgbClr val="C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6E00"/>
                </a:solidFill>
                <a:latin typeface="맑은 고딕"/>
              </a:rPr>
              <a:t>LLM 단일 의존 리스크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OpenAI API 장애 시  이미지 인식 · 레시피 생성 기능 전체 중단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2355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▪  개선 방향: Fallback 모델 (Claude, Gemini) 추가 또는 로컬 모델 검토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향후  ML/DL  고도화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0E0"/>
                </a:solidFill>
                <a:latin typeface="맑은 고딕"/>
              </a:rPr>
              <a:t>Part 2  | 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20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9E75"/>
                </a:solidFill>
                <a:latin typeface="맑은 고딕"/>
              </a:rPr>
              <a:t>개인화 추천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91840" cy="868680"/>
          </a:xfrm>
          <a:prstGeom prst="rect">
            <a:avLst/>
          </a:prstGeom>
          <a:solidFill>
            <a:srgbClr val="F4F8F6"/>
          </a:solidFill>
          <a:ln w="762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urier New"/>
              </a:rPr>
              <a:t>Collaborative Filtering
/ Matrix Factorization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사용자 레시피 선택 이력 축적
→ 유사 사용자 패턴 학습
→ 취향 기반 레시피 우선 추천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3035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9E75"/>
                </a:solidFill>
                <a:latin typeface="맑은 고딕"/>
              </a:rPr>
              <a:t>영양 목표 최적화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3291840" cy="868680"/>
          </a:xfrm>
          <a:prstGeom prst="rect">
            <a:avLst/>
          </a:prstGeom>
          <a:solidFill>
            <a:srgbClr val="F4F8F6"/>
          </a:solidFill>
          <a:ln w="762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019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urier New"/>
              </a:rPr>
              <a:t>Linear Programming
/ Reinforcement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사용자 목표 설정
(다이어트, 근육 증가 등)
→ 최적 레시피 조합 자동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657600" cy="53035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9E75"/>
                </a:solidFill>
                <a:latin typeface="맑은 고딕"/>
              </a:rPr>
              <a:t>식재료 영양 DB 모델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828800"/>
            <a:ext cx="3291840" cy="868680"/>
          </a:xfrm>
          <a:prstGeom prst="rect">
            <a:avLst/>
          </a:prstGeom>
          <a:solidFill>
            <a:srgbClr val="F4F8F6"/>
          </a:solidFill>
          <a:ln w="7620">
            <a:solidFill>
              <a:srgbClr val="CC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019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urier New"/>
              </a:rPr>
              <a:t>공공 DB 학습 기반
영양 예측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식품안전처 DB로 직접 학습
→ 참조표 없이도
임의 재료 영양 정확 예측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21 /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09728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LLM을 단순 호출하는 것을 넘어  역할 부여 · 포맷 강제 · 참조표 삽입으로
신뢰성 있는 출력을 유도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09728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하이브리드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LLM의 패턴 매칭 한계를 파악하고  규칙 기반 서버 재계산으로 보정
→  2-Layer 영양 정확도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109728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Foundation Model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2511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직접 모델 학습 없이 GPT-4o Vision으로 이미지 인식 구현
→  개발 속도 · 범용성 · 정확도 동시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12079"/>
            <a:ext cx="109728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  <a:latin typeface="맑은 고딕"/>
              </a:rPr>
              <a:t>향후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실제 ML/DL 모델 추가  →  API 의존도 감소  +  개인화 추천  +  영양 정확도 향상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92240"/>
            <a:ext cx="11274552" cy="228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1819</ep:Words>
  <ep:PresentationFormat>On-screen Show (4:3)</ep:PresentationFormat>
  <ep:Paragraphs>576</ep:Paragraphs>
  <ep:Slides>22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tldhs</cp:lastModifiedBy>
  <dcterms:modified xsi:type="dcterms:W3CDTF">2026-05-02T12:57:50.341</dcterms:modified>
  <cp:revision>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